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A6A"/>
    <a:srgbClr val="22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B057DA-D1F5-4CCA-A267-6DCE0234A445}" v="21" dt="2025-12-02T01:53:11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35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Cauley, Ireland C CDT 2026" userId="256b7129-3735-4695-a70c-41e7eced07ff" providerId="ADAL" clId="{712A92B2-E8AB-4622-8177-8DEE1CD62B48}"/>
    <pc:docChg chg="undo custSel addSld modSld">
      <pc:chgData name="McCauley, Ireland C CDT 2026" userId="256b7129-3735-4695-a70c-41e7eced07ff" providerId="ADAL" clId="{712A92B2-E8AB-4622-8177-8DEE1CD62B48}" dt="2025-12-02T01:53:54.520" v="499" actId="14100"/>
      <pc:docMkLst>
        <pc:docMk/>
      </pc:docMkLst>
      <pc:sldChg chg="addSp delSp modSp mod">
        <pc:chgData name="McCauley, Ireland C CDT 2026" userId="256b7129-3735-4695-a70c-41e7eced07ff" providerId="ADAL" clId="{712A92B2-E8AB-4622-8177-8DEE1CD62B48}" dt="2025-12-02T01:45:22.116" v="480" actId="20577"/>
        <pc:sldMkLst>
          <pc:docMk/>
          <pc:sldMk cId="1215836841" sldId="256"/>
        </pc:sldMkLst>
        <pc:spChg chg="mod">
          <ac:chgData name="McCauley, Ireland C CDT 2026" userId="256b7129-3735-4695-a70c-41e7eced07ff" providerId="ADAL" clId="{712A92B2-E8AB-4622-8177-8DEE1CD62B48}" dt="2025-11-19T20:29:58.826" v="445" actId="1076"/>
          <ac:spMkLst>
            <pc:docMk/>
            <pc:sldMk cId="1215836841" sldId="256"/>
            <ac:spMk id="2" creationId="{A09CEA6F-62A7-E010-1789-8521EFFADA47}"/>
          </ac:spMkLst>
        </pc:spChg>
        <pc:spChg chg="mod">
          <ac:chgData name="McCauley, Ireland C CDT 2026" userId="256b7129-3735-4695-a70c-41e7eced07ff" providerId="ADAL" clId="{712A92B2-E8AB-4622-8177-8DEE1CD62B48}" dt="2025-12-02T01:45:22.116" v="480" actId="20577"/>
          <ac:spMkLst>
            <pc:docMk/>
            <pc:sldMk cId="1215836841" sldId="256"/>
            <ac:spMk id="8" creationId="{EE512CD2-2110-2B69-0171-AA370A2DE1D3}"/>
          </ac:spMkLst>
        </pc:spChg>
        <pc:picChg chg="add mod modCrop">
          <ac:chgData name="McCauley, Ireland C CDT 2026" userId="256b7129-3735-4695-a70c-41e7eced07ff" providerId="ADAL" clId="{712A92B2-E8AB-4622-8177-8DEE1CD62B48}" dt="2025-12-02T01:45:16.208" v="471" actId="1076"/>
          <ac:picMkLst>
            <pc:docMk/>
            <pc:sldMk cId="1215836841" sldId="256"/>
            <ac:picMk id="4" creationId="{31A14293-3142-99A4-9F28-B2A76EA45160}"/>
          </ac:picMkLst>
        </pc:picChg>
        <pc:picChg chg="del mod">
          <ac:chgData name="McCauley, Ireland C CDT 2026" userId="256b7129-3735-4695-a70c-41e7eced07ff" providerId="ADAL" clId="{712A92B2-E8AB-4622-8177-8DEE1CD62B48}" dt="2025-12-02T01:44:23.456" v="455" actId="478"/>
          <ac:picMkLst>
            <pc:docMk/>
            <pc:sldMk cId="1215836841" sldId="256"/>
            <ac:picMk id="5" creationId="{ABEFE109-D180-457C-A414-308A3CEED4AF}"/>
          </ac:picMkLst>
        </pc:picChg>
      </pc:sldChg>
      <pc:sldChg chg="modAnim">
        <pc:chgData name="McCauley, Ireland C CDT 2026" userId="256b7129-3735-4695-a70c-41e7eced07ff" providerId="ADAL" clId="{712A92B2-E8AB-4622-8177-8DEE1CD62B48}" dt="2025-12-02T01:46:52.944" v="481"/>
        <pc:sldMkLst>
          <pc:docMk/>
          <pc:sldMk cId="494456813" sldId="257"/>
        </pc:sldMkLst>
      </pc:sldChg>
      <pc:sldChg chg="modAnim">
        <pc:chgData name="McCauley, Ireland C CDT 2026" userId="256b7129-3735-4695-a70c-41e7eced07ff" providerId="ADAL" clId="{712A92B2-E8AB-4622-8177-8DEE1CD62B48}" dt="2025-12-02T01:47:06.898" v="482"/>
        <pc:sldMkLst>
          <pc:docMk/>
          <pc:sldMk cId="3824102728" sldId="258"/>
        </pc:sldMkLst>
      </pc:sldChg>
      <pc:sldChg chg="modSp mod">
        <pc:chgData name="McCauley, Ireland C CDT 2026" userId="256b7129-3735-4695-a70c-41e7eced07ff" providerId="ADAL" clId="{712A92B2-E8AB-4622-8177-8DEE1CD62B48}" dt="2025-12-02T01:53:54.520" v="499" actId="14100"/>
        <pc:sldMkLst>
          <pc:docMk/>
          <pc:sldMk cId="1282288537" sldId="262"/>
        </pc:sldMkLst>
        <pc:spChg chg="mod">
          <ac:chgData name="McCauley, Ireland C CDT 2026" userId="256b7129-3735-4695-a70c-41e7eced07ff" providerId="ADAL" clId="{712A92B2-E8AB-4622-8177-8DEE1CD62B48}" dt="2025-12-02T01:53:54.520" v="499" actId="14100"/>
          <ac:spMkLst>
            <pc:docMk/>
            <pc:sldMk cId="1282288537" sldId="262"/>
            <ac:spMk id="3" creationId="{D276AB31-1CB5-C359-D84D-77423CB8CBFC}"/>
          </ac:spMkLst>
        </pc:spChg>
        <pc:spChg chg="mod">
          <ac:chgData name="McCauley, Ireland C CDT 2026" userId="256b7129-3735-4695-a70c-41e7eced07ff" providerId="ADAL" clId="{712A92B2-E8AB-4622-8177-8DEE1CD62B48}" dt="2025-11-19T20:30:18.897" v="446" actId="108"/>
          <ac:spMkLst>
            <pc:docMk/>
            <pc:sldMk cId="1282288537" sldId="262"/>
            <ac:spMk id="10" creationId="{34FEA525-85B4-7F0A-D253-DB50AB6D6A32}"/>
          </ac:spMkLst>
        </pc:spChg>
      </pc:sldChg>
      <pc:sldChg chg="modSp mod">
        <pc:chgData name="McCauley, Ireland C CDT 2026" userId="256b7129-3735-4695-a70c-41e7eced07ff" providerId="ADAL" clId="{712A92B2-E8AB-4622-8177-8DEE1CD62B48}" dt="2025-11-19T20:31:43.665" v="450" actId="2711"/>
        <pc:sldMkLst>
          <pc:docMk/>
          <pc:sldMk cId="1769857104" sldId="263"/>
        </pc:sldMkLst>
        <pc:spChg chg="mod">
          <ac:chgData name="McCauley, Ireland C CDT 2026" userId="256b7129-3735-4695-a70c-41e7eced07ff" providerId="ADAL" clId="{712A92B2-E8AB-4622-8177-8DEE1CD62B48}" dt="2025-11-19T20:31:20.945" v="447" actId="2711"/>
          <ac:spMkLst>
            <pc:docMk/>
            <pc:sldMk cId="1769857104" sldId="263"/>
            <ac:spMk id="6" creationId="{A36A79D5-0BF9-E4C3-B5C0-AD57179367B2}"/>
          </ac:spMkLst>
        </pc:spChg>
        <pc:spChg chg="mod">
          <ac:chgData name="McCauley, Ireland C CDT 2026" userId="256b7129-3735-4695-a70c-41e7eced07ff" providerId="ADAL" clId="{712A92B2-E8AB-4622-8177-8DEE1CD62B48}" dt="2025-11-19T20:31:43.665" v="450" actId="2711"/>
          <ac:spMkLst>
            <pc:docMk/>
            <pc:sldMk cId="1769857104" sldId="263"/>
            <ac:spMk id="9" creationId="{474E88DB-581E-6FE5-0367-4F76B87BD0D0}"/>
          </ac:spMkLst>
        </pc:spChg>
        <pc:spChg chg="mod">
          <ac:chgData name="McCauley, Ireland C CDT 2026" userId="256b7129-3735-4695-a70c-41e7eced07ff" providerId="ADAL" clId="{712A92B2-E8AB-4622-8177-8DEE1CD62B48}" dt="2025-11-19T20:31:36.981" v="449" actId="2711"/>
          <ac:spMkLst>
            <pc:docMk/>
            <pc:sldMk cId="1769857104" sldId="263"/>
            <ac:spMk id="11" creationId="{866113FC-7797-6C19-1538-3631A6172B41}"/>
          </ac:spMkLst>
        </pc:spChg>
        <pc:graphicFrameChg chg="modGraphic">
          <ac:chgData name="McCauley, Ireland C CDT 2026" userId="256b7129-3735-4695-a70c-41e7eced07ff" providerId="ADAL" clId="{712A92B2-E8AB-4622-8177-8DEE1CD62B48}" dt="2025-11-19T20:31:30.049" v="448" actId="2711"/>
          <ac:graphicFrameMkLst>
            <pc:docMk/>
            <pc:sldMk cId="1769857104" sldId="263"/>
            <ac:graphicFrameMk id="4" creationId="{F508E9F0-CD44-6791-D1A5-192E7B19125F}"/>
          </ac:graphicFrameMkLst>
        </pc:graphicFrameChg>
      </pc:sldChg>
      <pc:sldChg chg="addSp delSp modSp mod modClrScheme chgLayout">
        <pc:chgData name="McCauley, Ireland C CDT 2026" userId="256b7129-3735-4695-a70c-41e7eced07ff" providerId="ADAL" clId="{712A92B2-E8AB-4622-8177-8DEE1CD62B48}" dt="2025-11-21T13:23:51.478" v="451" actId="20577"/>
        <pc:sldMkLst>
          <pc:docMk/>
          <pc:sldMk cId="2351164240" sldId="264"/>
        </pc:sldMkLst>
        <pc:spChg chg="mod ord">
          <ac:chgData name="McCauley, Ireland C CDT 2026" userId="256b7129-3735-4695-a70c-41e7eced07ff" providerId="ADAL" clId="{712A92B2-E8AB-4622-8177-8DEE1CD62B48}" dt="2025-11-19T19:59:01.773" v="3" actId="26606"/>
          <ac:spMkLst>
            <pc:docMk/>
            <pc:sldMk cId="2351164240" sldId="264"/>
            <ac:spMk id="2" creationId="{A589F749-0E7A-4A5B-6DAE-A9CB93B87C5F}"/>
          </ac:spMkLst>
        </pc:spChg>
        <pc:spChg chg="add del mod">
          <ac:chgData name="McCauley, Ireland C CDT 2026" userId="256b7129-3735-4695-a70c-41e7eced07ff" providerId="ADAL" clId="{712A92B2-E8AB-4622-8177-8DEE1CD62B48}" dt="2025-11-21T13:23:51.478" v="451" actId="20577"/>
          <ac:spMkLst>
            <pc:docMk/>
            <pc:sldMk cId="2351164240" sldId="264"/>
            <ac:spMk id="10" creationId="{3915A303-BE4B-B859-60DD-945E03580126}"/>
          </ac:spMkLst>
        </pc:spChg>
        <pc:picChg chg="add mod ord">
          <ac:chgData name="McCauley, Ireland C CDT 2026" userId="256b7129-3735-4695-a70c-41e7eced07ff" providerId="ADAL" clId="{712A92B2-E8AB-4622-8177-8DEE1CD62B48}" dt="2025-11-19T20:27:06.616" v="418" actId="26606"/>
          <ac:picMkLst>
            <pc:docMk/>
            <pc:sldMk cId="2351164240" sldId="264"/>
            <ac:picMk id="5" creationId="{AFE4AC11-200C-0EAC-E97A-7A86A60EEF36}"/>
          </ac:picMkLst>
        </pc:picChg>
      </pc:sldChg>
      <pc:sldChg chg="modSp mod">
        <pc:chgData name="McCauley, Ireland C CDT 2026" userId="256b7129-3735-4695-a70c-41e7eced07ff" providerId="ADAL" clId="{712A92B2-E8AB-4622-8177-8DEE1CD62B48}" dt="2025-12-02T01:53:35.099" v="493" actId="20577"/>
        <pc:sldMkLst>
          <pc:docMk/>
          <pc:sldMk cId="2218358132" sldId="265"/>
        </pc:sldMkLst>
        <pc:spChg chg="mod">
          <ac:chgData name="McCauley, Ireland C CDT 2026" userId="256b7129-3735-4695-a70c-41e7eced07ff" providerId="ADAL" clId="{712A92B2-E8AB-4622-8177-8DEE1CD62B48}" dt="2025-12-02T01:53:35.099" v="493" actId="20577"/>
          <ac:spMkLst>
            <pc:docMk/>
            <pc:sldMk cId="2218358132" sldId="265"/>
            <ac:spMk id="3" creationId="{24B8F0FF-B244-F5CF-429B-74BB605E48D9}"/>
          </ac:spMkLst>
        </pc:spChg>
      </pc:sldChg>
      <pc:sldChg chg="addSp delSp modSp new mod">
        <pc:chgData name="McCauley, Ireland C CDT 2026" userId="256b7129-3735-4695-a70c-41e7eced07ff" providerId="ADAL" clId="{712A92B2-E8AB-4622-8177-8DEE1CD62B48}" dt="2025-11-19T20:29:37.052" v="442" actId="20577"/>
        <pc:sldMkLst>
          <pc:docMk/>
          <pc:sldMk cId="3980244058" sldId="266"/>
        </pc:sldMkLst>
        <pc:spChg chg="mod">
          <ac:chgData name="McCauley, Ireland C CDT 2026" userId="256b7129-3735-4695-a70c-41e7eced07ff" providerId="ADAL" clId="{712A92B2-E8AB-4622-8177-8DEE1CD62B48}" dt="2025-11-19T20:11:00.716" v="366" actId="5793"/>
          <ac:spMkLst>
            <pc:docMk/>
            <pc:sldMk cId="3980244058" sldId="266"/>
            <ac:spMk id="2" creationId="{CE643802-1A33-4EF9-D847-D3E486E2362C}"/>
          </ac:spMkLst>
        </pc:spChg>
        <pc:spChg chg="mod">
          <ac:chgData name="McCauley, Ireland C CDT 2026" userId="256b7129-3735-4695-a70c-41e7eced07ff" providerId="ADAL" clId="{712A92B2-E8AB-4622-8177-8DEE1CD62B48}" dt="2025-11-19T20:29:37.052" v="442" actId="20577"/>
          <ac:spMkLst>
            <pc:docMk/>
            <pc:sldMk cId="3980244058" sldId="266"/>
            <ac:spMk id="4" creationId="{7E6F6BEE-86A7-AA0A-920B-1C64B0A5C4D5}"/>
          </ac:spMkLst>
        </pc:spChg>
        <pc:spChg chg="add mod">
          <ac:chgData name="McCauley, Ireland C CDT 2026" userId="256b7129-3735-4695-a70c-41e7eced07ff" providerId="ADAL" clId="{712A92B2-E8AB-4622-8177-8DEE1CD62B48}" dt="2025-11-19T20:24:03.560" v="378" actId="14100"/>
          <ac:spMkLst>
            <pc:docMk/>
            <pc:sldMk cId="3980244058" sldId="266"/>
            <ac:spMk id="7" creationId="{68F353FC-3CDF-26D1-4BA0-6C9C986695A0}"/>
          </ac:spMkLst>
        </pc:spChg>
        <pc:spChg chg="add mod">
          <ac:chgData name="McCauley, Ireland C CDT 2026" userId="256b7129-3735-4695-a70c-41e7eced07ff" providerId="ADAL" clId="{712A92B2-E8AB-4622-8177-8DEE1CD62B48}" dt="2025-11-19T20:24:36.765" v="385" actId="1076"/>
          <ac:spMkLst>
            <pc:docMk/>
            <pc:sldMk cId="3980244058" sldId="266"/>
            <ac:spMk id="11" creationId="{7BCB4987-F189-E836-4628-C20F81763B0C}"/>
          </ac:spMkLst>
        </pc:spChg>
        <pc:spChg chg="add mod">
          <ac:chgData name="McCauley, Ireland C CDT 2026" userId="256b7129-3735-4695-a70c-41e7eced07ff" providerId="ADAL" clId="{712A92B2-E8AB-4622-8177-8DEE1CD62B48}" dt="2025-11-19T20:26:34.801" v="408" actId="1076"/>
          <ac:spMkLst>
            <pc:docMk/>
            <pc:sldMk cId="3980244058" sldId="266"/>
            <ac:spMk id="15" creationId="{20047F71-F2B9-E6C5-CC02-845D9047CF40}"/>
          </ac:spMkLst>
        </pc:spChg>
        <pc:spChg chg="add mod">
          <ac:chgData name="McCauley, Ireland C CDT 2026" userId="256b7129-3735-4695-a70c-41e7eced07ff" providerId="ADAL" clId="{712A92B2-E8AB-4622-8177-8DEE1CD62B48}" dt="2025-11-19T20:25:38.140" v="399" actId="1076"/>
          <ac:spMkLst>
            <pc:docMk/>
            <pc:sldMk cId="3980244058" sldId="266"/>
            <ac:spMk id="19" creationId="{85E81884-348E-2A23-7B01-B4254105CDE7}"/>
          </ac:spMkLst>
        </pc:spChg>
        <pc:spChg chg="add mod">
          <ac:chgData name="McCauley, Ireland C CDT 2026" userId="256b7129-3735-4695-a70c-41e7eced07ff" providerId="ADAL" clId="{712A92B2-E8AB-4622-8177-8DEE1CD62B48}" dt="2025-11-19T20:26:39.473" v="409" actId="1076"/>
          <ac:spMkLst>
            <pc:docMk/>
            <pc:sldMk cId="3980244058" sldId="266"/>
            <ac:spMk id="23" creationId="{44C49A97-AD93-02A0-5CD1-94195FC16B85}"/>
          </ac:spMkLst>
        </pc:spChg>
        <pc:spChg chg="add mod">
          <ac:chgData name="McCauley, Ireland C CDT 2026" userId="256b7129-3735-4695-a70c-41e7eced07ff" providerId="ADAL" clId="{712A92B2-E8AB-4622-8177-8DEE1CD62B48}" dt="2025-11-19T20:28:24.042" v="426" actId="1076"/>
          <ac:spMkLst>
            <pc:docMk/>
            <pc:sldMk cId="3980244058" sldId="266"/>
            <ac:spMk id="27" creationId="{84174FBE-6996-9C96-1989-AEE33300DD65}"/>
          </ac:spMkLst>
        </pc:spChg>
        <pc:picChg chg="add mod">
          <ac:chgData name="McCauley, Ireland C CDT 2026" userId="256b7129-3735-4695-a70c-41e7eced07ff" providerId="ADAL" clId="{712A92B2-E8AB-4622-8177-8DEE1CD62B48}" dt="2025-11-19T20:26:27.303" v="407" actId="14826"/>
          <ac:picMkLst>
            <pc:docMk/>
            <pc:sldMk cId="3980244058" sldId="266"/>
            <ac:picMk id="6" creationId="{7F0D3403-7ED1-1297-5614-166112B49BD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BFB8BB-06C2-79C1-D087-606FB81331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9FCC2-5488-3E5A-6FDA-8C92F9BF4A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3F5F4-BF23-4E1A-AB73-42DA9C027B4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57764-EB0C-A3C6-5617-8E6CF31E9A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BDEF1-0094-2A81-3991-7C9557044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7CAEC-4414-48EA-B514-057F080A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3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C7877-DCC1-4B17-8F1A-B28CDAC4154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A5828-1FE4-4BA6-8642-718E3F68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6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04A-6379-0626-922D-626B553AF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04ED4-82C9-64B0-8D4E-1178CA650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60530-1EA7-EC49-3DB7-8A1275EB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3C37-7886-4FB4-975F-CAB6FEDAF931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21833-DFE3-9E12-3993-F2DE80F3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37D46-2B4F-E3E5-7544-0CC56C90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3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5E54278-728F-CEF2-D04C-AE5A3967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242" y="136526"/>
            <a:ext cx="7536805" cy="644872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25D47-22D1-038D-D51B-55F053B2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F49-D340-4D84-9537-4E619429D8B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502ED-6697-1E64-9334-EA8B79F8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443F1-3FBB-4B92-BD9D-FE8726D6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7A87328-9EED-CFCE-F08C-02AEF7FDC1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312863"/>
            <a:ext cx="10515600" cy="486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0821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EEB2-39B0-18C9-D702-3816FED99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20CF3-8272-533F-658E-BB2A2DC21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3291B-D4DD-F3F1-BFC8-365D1B00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D7E851-B599-44A7-B905-999AD4CB88C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2AD60-86AA-2BF9-93F0-C68119B0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33077-7D4B-75E6-E5B1-74BFC6A9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6188EB-F0FC-41BB-9F24-59FF50B356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72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EF23D-D8BD-D925-CD72-0601E9CC6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38146"/>
            <a:ext cx="5181600" cy="483881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93AC3-2E74-234A-3941-DBE496B8B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38146"/>
            <a:ext cx="5181600" cy="483881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C1873-2A5E-E408-9263-B0AA4F62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2851-A11D-40C0-82AD-24FDC69438D6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6CED0-1700-269D-332B-C10262D7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379B9-5BB5-93C0-07D6-56B3C159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E4EF574-94EB-3695-5B96-B1F0EEB4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242" y="136526"/>
            <a:ext cx="7536805" cy="644872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336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D34F3-21E6-DE01-CD97-0078796D5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128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BC1BC-2A87-7374-6946-B8ECBA402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55192"/>
            <a:ext cx="5157787" cy="41344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88D92-E6EE-2BA0-48B3-B976F16FE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23128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8131B-9E70-2998-4258-82D31728F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55192"/>
            <a:ext cx="5183188" cy="41344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A49D2-3D47-3E5B-53DE-EB67460B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AE7F-6981-41C6-9BE8-593B2976BF77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4069D-172C-7FAA-7860-55DF2237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F95EA-BF93-1FA9-C08D-0A88384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D048467-2DE9-B899-6FE2-25E48CBC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242" y="136526"/>
            <a:ext cx="7536805" cy="644872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9923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CCD73-B2B9-87C7-5A43-31B276A1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0D7BF-2A36-4702-ADE0-EAB506D961C4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38CCC-5968-26AA-F807-9EFEFD01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8CBD7-86B6-19D9-E4D2-E47082DC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3E891ABC-0F26-8B2B-7DD2-95353907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242" y="136526"/>
            <a:ext cx="7536805" cy="644872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016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C22E3-EFDB-D40C-B29F-984369DCB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3216"/>
            <a:ext cx="10515600" cy="4863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83555-A992-83B5-7A2C-39EC9FCBD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745D7-AE32-4BE9-8390-E439FA4EF60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2357F-4593-15CE-59E0-A10D7EC54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C54A4-2F45-7543-DCDC-6769BCA7D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188EB-F0FC-41BB-9F24-59FF50B356B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mplate ART.tif">
            <a:extLst>
              <a:ext uri="{FF2B5EF4-FFF2-40B4-BE49-F238E27FC236}">
                <a16:creationId xmlns:a16="http://schemas.microsoft.com/office/drawing/2014/main" id="{0E04F9D0-26C1-8434-406B-0AC1F49B215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1149096"/>
          </a:xfrm>
          <a:prstGeom prst="rect">
            <a:avLst/>
          </a:prstGeom>
        </p:spPr>
      </p:pic>
      <p:pic>
        <p:nvPicPr>
          <p:cNvPr id="13" name="Picture 12" descr="Template ART.tif">
            <a:extLst>
              <a:ext uri="{FF2B5EF4-FFF2-40B4-BE49-F238E27FC236}">
                <a16:creationId xmlns:a16="http://schemas.microsoft.com/office/drawing/2014/main" id="{7F64B0AD-EB7E-7E80-7A06-57A5785D4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/>
          <a:srcRect l="54167"/>
          <a:stretch/>
        </p:blipFill>
        <p:spPr>
          <a:xfrm>
            <a:off x="8014785" y="0"/>
            <a:ext cx="4191000" cy="11490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D633DE-0F9F-E938-721E-B4F66E4065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5824532"/>
            <a:ext cx="689026" cy="8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4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EA6F-62A7-E010-1789-8521EFFAD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940" y="957771"/>
            <a:ext cx="10104120" cy="2387600"/>
          </a:xfrm>
        </p:spPr>
        <p:txBody>
          <a:bodyPr/>
          <a:lstStyle/>
          <a:p>
            <a:r>
              <a:rPr lang="en-US" dirty="0"/>
              <a:t>Postprandial Metabolomics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512CD2-2110-2B69-0171-AA370A2DE1D3}"/>
              </a:ext>
            </a:extLst>
          </p:cNvPr>
          <p:cNvSpPr txBox="1"/>
          <p:nvPr/>
        </p:nvSpPr>
        <p:spPr>
          <a:xfrm>
            <a:off x="2606843" y="3429000"/>
            <a:ext cx="681789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0" i="0" u="none" strike="noStrike" baseline="0" dirty="0">
                <a:solidFill>
                  <a:schemeClr val="bg1">
                    <a:lumMod val="49000"/>
                  </a:schemeClr>
                </a:solidFill>
                <a:latin typeface="Arial"/>
                <a:cs typeface="Arial"/>
              </a:rPr>
              <a:t>CDT Ireland McCauley</a:t>
            </a:r>
            <a:r>
              <a:rPr lang="en-US" sz="2400" b="0" i="0" dirty="0">
                <a:solidFill>
                  <a:schemeClr val="bg1">
                    <a:lumMod val="49000"/>
                  </a:schemeClr>
                </a:solidFill>
                <a:latin typeface="Arial"/>
                <a:cs typeface="Arial"/>
              </a:rPr>
              <a:t>​</a:t>
            </a:r>
          </a:p>
          <a:p>
            <a:pPr algn="ctr" rtl="0"/>
            <a:r>
              <a:rPr lang="en-US" sz="2400" b="0" i="0" u="none" strike="noStrike" baseline="0" dirty="0">
                <a:solidFill>
                  <a:schemeClr val="bg1">
                    <a:lumMod val="49000"/>
                  </a:schemeClr>
                </a:solidFill>
                <a:latin typeface="Arial"/>
                <a:cs typeface="Arial"/>
              </a:rPr>
              <a:t>Advisor(s): COL Andrew Lee and CPT Brad Dinkel</a:t>
            </a:r>
            <a:r>
              <a:rPr lang="en-US" sz="2400" b="0" i="0" dirty="0">
                <a:solidFill>
                  <a:schemeClr val="bg1">
                    <a:lumMod val="49000"/>
                  </a:schemeClr>
                </a:solidFill>
                <a:latin typeface="Arial"/>
                <a:cs typeface="Arial"/>
              </a:rPr>
              <a:t>​</a:t>
            </a:r>
            <a:endParaRPr lang="en-US" sz="2400" b="0" i="0" dirty="0">
              <a:solidFill>
                <a:schemeClr val="bg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  <a:p>
            <a:pPr algn="ctr" rtl="0"/>
            <a:r>
              <a:rPr lang="en-US" sz="2400" b="0" i="0" dirty="0">
                <a:solidFill>
                  <a:schemeClr val="bg1">
                    <a:lumMod val="49000"/>
                  </a:schemeClr>
                </a:solidFill>
                <a:latin typeface="Arial"/>
                <a:cs typeface="Arial"/>
              </a:rPr>
              <a:t>​</a:t>
            </a:r>
            <a:endParaRPr lang="en-US" sz="2400" b="0" i="0" dirty="0">
              <a:solidFill>
                <a:schemeClr val="bg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  <a:p>
            <a:pPr algn="ctr" rtl="0"/>
            <a:r>
              <a:rPr lang="en-US" sz="2400" b="0" i="0" u="none" strike="noStrike" baseline="0" dirty="0">
                <a:solidFill>
                  <a:schemeClr val="bg1">
                    <a:lumMod val="49000"/>
                  </a:schemeClr>
                </a:solidFill>
                <a:latin typeface="Arial"/>
                <a:cs typeface="Arial"/>
              </a:rPr>
              <a:t>Date: 03DEC2025</a:t>
            </a:r>
          </a:p>
        </p:txBody>
      </p:sp>
      <p:pic>
        <p:nvPicPr>
          <p:cNvPr id="4" name="Picture 3" descr="A qr code on a blue background&#10;&#10;AI-generated content may be incorrect.">
            <a:extLst>
              <a:ext uri="{FF2B5EF4-FFF2-40B4-BE49-F238E27FC236}">
                <a16:creationId xmlns:a16="http://schemas.microsoft.com/office/drawing/2014/main" id="{31A14293-3142-99A4-9F28-B2A76EA45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0" t="35691" r="25348" b="13935"/>
          <a:stretch>
            <a:fillRect/>
          </a:stretch>
        </p:blipFill>
        <p:spPr>
          <a:xfrm>
            <a:off x="358165" y="4292466"/>
            <a:ext cx="2248678" cy="231830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CDA95-5926-0610-D4BC-35D0530B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3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46B9-E9E2-0D0B-515D-55A7501D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A2554-E9F1-D6C8-ADEA-7CD773265CA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People spend most of their lives in a postprandial state</a:t>
            </a:r>
          </a:p>
          <a:p>
            <a:pPr lvl="1"/>
            <a:r>
              <a:rPr lang="en-US" dirty="0"/>
              <a:t>Nutrient intake shapes metabolic reactions and overall health</a:t>
            </a:r>
          </a:p>
          <a:p>
            <a:r>
              <a:rPr lang="en-US" dirty="0"/>
              <a:t>Postprandial glucose responses vary widely between individuals and are strongly linked to cardiometabolic disease risk </a:t>
            </a:r>
          </a:p>
          <a:p>
            <a:pPr lvl="1"/>
            <a:r>
              <a:rPr lang="en-US" dirty="0"/>
              <a:t>Prediabetes, type II diabetes, cardiovascular diseases</a:t>
            </a:r>
          </a:p>
          <a:p>
            <a:r>
              <a:rPr lang="en-US" dirty="0"/>
              <a:t>Traditional approaches fail to explain this variation</a:t>
            </a:r>
          </a:p>
          <a:p>
            <a:pPr lvl="1"/>
            <a:r>
              <a:rPr lang="en-US" dirty="0"/>
              <a:t>Calorie counting, carb counting, “one diet fits all” approach</a:t>
            </a:r>
          </a:p>
          <a:p>
            <a:r>
              <a:rPr lang="en-US" dirty="0"/>
              <a:t>Large-scale studies (NPH) investigate how diet, gut microbiome, personal health factors, and genetics influence metabolic responses</a:t>
            </a:r>
          </a:p>
          <a:p>
            <a:pPr lvl="1"/>
            <a:r>
              <a:rPr lang="en-US" dirty="0"/>
              <a:t>Metabolomics research shows that meal composition creates distinct temporal metabolic patterns across hundreds of metabolites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57824-5C08-6CE3-5ADB-4327EF4A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5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737D-A947-5336-1A1F-61A3D7AF2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4EC4-DF0D-7B41-2B72-F4212C9E6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D2FAF-062F-E10E-B460-024171AB92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/>
              <a:t>Motivation</a:t>
            </a:r>
          </a:p>
          <a:p>
            <a:r>
              <a:rPr lang="en-US" sz="2600" dirty="0"/>
              <a:t>Machine learning models have shown success in predicting personalized metabolic responses when incorporating individual factors (gut microbiome, clinical data, metabolites)</a:t>
            </a:r>
          </a:p>
          <a:p>
            <a:r>
              <a:rPr lang="en-US" sz="2600" dirty="0"/>
              <a:t>My dataset (</a:t>
            </a:r>
            <a:r>
              <a:rPr lang="en-US" sz="2600" dirty="0" err="1"/>
              <a:t>Weinisch</a:t>
            </a:r>
            <a:r>
              <a:rPr lang="en-US" sz="2600" dirty="0"/>
              <a:t> et al.) provides an ideal foundation of 600+ metabolites, glucose, insulin, and three dietary challenge types with clear postprandial patterns</a:t>
            </a:r>
          </a:p>
          <a:p>
            <a:pPr marL="0" indent="0">
              <a:buNone/>
            </a:pPr>
            <a:r>
              <a:rPr lang="en-US" sz="2600" b="1" dirty="0"/>
              <a:t>Purpose</a:t>
            </a:r>
          </a:p>
          <a:p>
            <a:r>
              <a:rPr lang="en-US" sz="2600" dirty="0"/>
              <a:t>Use metabolite time-series trajectories across different meal challenges alone to predict glucose using a machine learning model</a:t>
            </a:r>
          </a:p>
          <a:p>
            <a:pPr lvl="1"/>
            <a:r>
              <a:rPr lang="en-US" sz="2600" dirty="0"/>
              <a:t>Linear Mixed Effects + False Discovery Rate</a:t>
            </a:r>
          </a:p>
          <a:p>
            <a:pPr lvl="1"/>
            <a:r>
              <a:rPr lang="en-US" sz="2600" b="1" dirty="0"/>
              <a:t>Ultimate Objective</a:t>
            </a:r>
          </a:p>
          <a:p>
            <a:pPr lvl="2"/>
            <a:r>
              <a:rPr lang="en-US" sz="2600" dirty="0"/>
              <a:t>Support precision nutrition strategies by identifying how metabolic profiles can personalize dietary recommendations to help prevent negative glycemic responses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EB94-B556-8B03-AA59-B0232C37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0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D53F-B49A-A16D-3DE7-D05009D5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9BD8-A2CA-F15E-73E8-C3190895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3A31F-F521-1F76-0C85-164850B952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9 samples every 15 minutes for the OGTT</a:t>
            </a:r>
          </a:p>
          <a:p>
            <a:r>
              <a:rPr lang="en-US" dirty="0"/>
              <a:t>7 samples every 30 minutes for OLTT</a:t>
            </a:r>
          </a:p>
          <a:p>
            <a:r>
              <a:rPr lang="en-US" dirty="0"/>
              <a:t>5 samples every 60 minutes for SLD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The Participants</a:t>
            </a:r>
          </a:p>
          <a:p>
            <a:r>
              <a:rPr lang="en-US" dirty="0"/>
              <a:t>15 healthy male participants were recruited to be as homogeneous as possible</a:t>
            </a:r>
          </a:p>
          <a:p>
            <a:r>
              <a:rPr lang="en-US" dirty="0"/>
              <a:t>Average age of 27.8 ± 2.9 years </a:t>
            </a:r>
          </a:p>
          <a:p>
            <a:r>
              <a:rPr lang="en-US" dirty="0"/>
              <a:t>Normal weight [body mass index (BMI) of 23.1 ± 1.8 kg/m²]</a:t>
            </a:r>
          </a:p>
          <a:p>
            <a:r>
              <a:rPr lang="en-US" dirty="0"/>
              <a:t>Participants did not take any medication, and none of the participants showed any metabolic abnormalities according to standard clinical chemistry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68A8C-610D-06A4-ED28-866CEB57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4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F39-44E4-C309-3D3F-4A155772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B58CD-9845-5972-5FC8-A922A900E2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217" y="1255365"/>
            <a:ext cx="10515600" cy="48641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K-means Clustering with 8 clusters</a:t>
            </a:r>
            <a:endParaRPr lang="en-US" dirty="0"/>
          </a:p>
          <a:p>
            <a:pPr>
              <a:defRPr sz="1800">
                <a:latin typeface="Arial"/>
              </a:defRPr>
            </a:pPr>
            <a:r>
              <a:rPr lang="en-US" dirty="0"/>
              <a:t>Average log2 fold change for each metabolite</a:t>
            </a:r>
          </a:p>
          <a:p>
            <a:pPr>
              <a:defRPr sz="1800">
                <a:latin typeface="Arial"/>
              </a:defRPr>
            </a:pPr>
            <a:r>
              <a:rPr lang="en-US" dirty="0"/>
              <a:t>Standardized (mean 0 STD 1)</a:t>
            </a:r>
          </a:p>
          <a:p>
            <a:pPr>
              <a:defRPr sz="1800">
                <a:latin typeface="Arial"/>
              </a:defRPr>
            </a:pPr>
            <a:r>
              <a:rPr lang="en-US" dirty="0"/>
              <a:t>0, 60, 120, 180, 240 minutes</a:t>
            </a:r>
          </a:p>
          <a:p>
            <a:pPr>
              <a:defRPr sz="1800">
                <a:latin typeface="Arial"/>
              </a:defRPr>
            </a:pPr>
            <a:r>
              <a:rPr lang="en-US" dirty="0"/>
              <a:t>Findings demonstrate challenge specific metabolic responses </a:t>
            </a:r>
          </a:p>
          <a:p>
            <a:pPr>
              <a:defRPr sz="1800">
                <a:latin typeface="Arial"/>
              </a:defRPr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2B30114E-9319-4499-99B2-7011A3B76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002" y="1013923"/>
            <a:ext cx="3314815" cy="55451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33FAC-FC18-8BF2-83A9-B4B04FB3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3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E286-3E56-8165-2F62-B2734BE9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Glucose Analysis</a:t>
            </a: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3F9B46CC-5449-47B3-201B-AD4788CF1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58" y="2130659"/>
            <a:ext cx="5135806" cy="384046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3DAA37-A88B-58A7-4ACB-3CAC9EAF0DA2}"/>
              </a:ext>
            </a:extLst>
          </p:cNvPr>
          <p:cNvSpPr txBox="1">
            <a:spLocks noGrp="1"/>
          </p:cNvSpPr>
          <p:nvPr>
            <p:ph sz="quarter" idx="13"/>
          </p:nvPr>
        </p:nvSpPr>
        <p:spPr>
          <a:xfrm>
            <a:off x="162058" y="1145475"/>
            <a:ext cx="5229872" cy="85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0" indent="0" algn="l">
              <a:buNone/>
              <a:defRPr sz="1800">
                <a:latin typeface="Arial"/>
              </a:defRPr>
            </a:pPr>
            <a:r>
              <a:rPr lang="en-US" dirty="0"/>
              <a:t>Average log2 Fold Change for Glucose by Test</a:t>
            </a:r>
            <a:endParaRPr dirty="0"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156BEA1-5EED-AA5B-28A4-E196CA53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002" y="2438400"/>
            <a:ext cx="6471221" cy="32138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0240AF-B0F1-4135-F8FA-F6C584E1DD03}"/>
              </a:ext>
            </a:extLst>
          </p:cNvPr>
          <p:cNvSpPr txBox="1"/>
          <p:nvPr/>
        </p:nvSpPr>
        <p:spPr>
          <a:xfrm>
            <a:off x="5766330" y="1356815"/>
            <a:ext cx="642567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800">
                <a:latin typeface="Arial"/>
              </a:defRPr>
            </a:pPr>
            <a:r>
              <a:rPr lang="en-US" dirty="0"/>
              <a:t>Raw Glucose Values for each subject with linear interpolation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229A7-3FCC-B2FE-72E7-EF9BEF2A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6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4EF7-9C82-E849-CD34-3BA98F97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LME + FDR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6AB31-1CB5-C359-D84D-77423CB8CB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30824" y="1007707"/>
            <a:ext cx="8215278" cy="57137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Step 1: Feature Selection Using FDR</a:t>
            </a:r>
          </a:p>
          <a:p>
            <a:pPr lvl="1"/>
            <a:r>
              <a:rPr lang="en-US" dirty="0"/>
              <a:t>For each metabolite:</a:t>
            </a:r>
          </a:p>
          <a:p>
            <a:pPr lvl="2"/>
            <a:r>
              <a:rPr lang="en-US" dirty="0"/>
              <a:t>Fit a LME to test its association with glucose</a:t>
            </a:r>
          </a:p>
          <a:p>
            <a:pPr lvl="2"/>
            <a:r>
              <a:rPr lang="en-US" dirty="0"/>
              <a:t>Extract p-values </a:t>
            </a:r>
            <a:r>
              <a:rPr lang="en-US" dirty="0">
                <a:sym typeface="Wingdings" panose="05000000000000000000" pitchFamily="2" charset="2"/>
              </a:rPr>
              <a:t>u</a:t>
            </a:r>
            <a:r>
              <a:rPr lang="en-US" dirty="0"/>
              <a:t>se Benjamini–Hochberg FDR to keep only significant metabolites</a:t>
            </a:r>
          </a:p>
          <a:p>
            <a:pPr lvl="1"/>
            <a:r>
              <a:rPr lang="en-US" dirty="0"/>
              <a:t>Testing Different FDR Thresholds</a:t>
            </a:r>
          </a:p>
          <a:p>
            <a:pPr lvl="2"/>
            <a:r>
              <a:rPr lang="en-US" dirty="0"/>
              <a:t>Tested models with different numbers of top features</a:t>
            </a:r>
          </a:p>
          <a:p>
            <a:pPr lvl="2"/>
            <a:r>
              <a:rPr lang="en-US" dirty="0"/>
              <a:t>21 features performed best</a:t>
            </a:r>
          </a:p>
          <a:p>
            <a:r>
              <a:rPr lang="en-US" u="sng" dirty="0"/>
              <a:t>Step 2: Build the Main Mixed-Effects Model</a:t>
            </a:r>
          </a:p>
          <a:p>
            <a:pPr lvl="1"/>
            <a:r>
              <a:rPr lang="en-US" dirty="0"/>
              <a:t>Fixed Effects</a:t>
            </a:r>
          </a:p>
          <a:p>
            <a:pPr lvl="2"/>
            <a:r>
              <a:rPr lang="en-US" dirty="0"/>
              <a:t>Time</a:t>
            </a:r>
          </a:p>
          <a:p>
            <a:pPr lvl="2"/>
            <a:r>
              <a:rPr lang="en-US" dirty="0"/>
              <a:t>Challenge type</a:t>
            </a:r>
          </a:p>
          <a:p>
            <a:pPr lvl="2"/>
            <a:r>
              <a:rPr lang="en-US" dirty="0"/>
              <a:t>Selected metabolites </a:t>
            </a:r>
          </a:p>
          <a:p>
            <a:pPr lvl="2"/>
            <a:r>
              <a:rPr lang="en-US" dirty="0"/>
              <a:t>Time × Challenge interaction</a:t>
            </a:r>
          </a:p>
          <a:p>
            <a:pPr lvl="1"/>
            <a:r>
              <a:rPr lang="en-US" dirty="0"/>
              <a:t>Random Effects</a:t>
            </a:r>
          </a:p>
          <a:p>
            <a:pPr lvl="2"/>
            <a:r>
              <a:rPr lang="en-US" dirty="0"/>
              <a:t>Subject-specific intercepts</a:t>
            </a:r>
          </a:p>
          <a:p>
            <a:pPr lvl="2"/>
            <a:r>
              <a:rPr lang="en-US" dirty="0"/>
              <a:t>Subject-specific time slopes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FEA525-85B4-7F0A-D253-DB50AB6D6A32}"/>
              </a:ext>
            </a:extLst>
          </p:cNvPr>
          <p:cNvSpPr txBox="1"/>
          <p:nvPr/>
        </p:nvSpPr>
        <p:spPr>
          <a:xfrm>
            <a:off x="139860" y="1677703"/>
            <a:ext cx="41993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Handles repeated-measures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Captures subject-specific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Allows time × challenge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Works with high-dimensional metabolites via FDR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EB33C-93AD-E54E-52DC-46403883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8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8583-ADD9-6B50-C096-E470FEF0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D7923-3285-F35A-4020-3DC5E9E57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LME + FDR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8F0FF-B244-F5CF-429B-74BB605E48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 : Cross-Validation (Leave-One-Subject-Out)</a:t>
            </a:r>
          </a:p>
          <a:p>
            <a:pPr lvl="1"/>
            <a:r>
              <a:rPr lang="en-US" dirty="0"/>
              <a:t>On each fold </a:t>
            </a:r>
            <a:r>
              <a:rPr lang="en-US" dirty="0">
                <a:sym typeface="Wingdings" panose="05000000000000000000" pitchFamily="2" charset="2"/>
              </a:rPr>
              <a:t>t</a:t>
            </a:r>
            <a:r>
              <a:rPr lang="en-US" dirty="0"/>
              <a:t>rain on 14 subjects</a:t>
            </a:r>
          </a:p>
          <a:p>
            <a:pPr lvl="1"/>
            <a:r>
              <a:rPr lang="en-US" dirty="0"/>
              <a:t>Predict glucose curve for the held-out subject</a:t>
            </a:r>
          </a:p>
          <a:p>
            <a:pPr lvl="1"/>
            <a:r>
              <a:rPr lang="en-US" dirty="0"/>
              <a:t>Compute out-of-fold R²</a:t>
            </a:r>
          </a:p>
          <a:p>
            <a:r>
              <a:rPr lang="en-US" dirty="0"/>
              <a:t>Step 4: Sensitivity</a:t>
            </a:r>
          </a:p>
          <a:p>
            <a:pPr lvl="1"/>
            <a:r>
              <a:rPr lang="en-US" dirty="0"/>
              <a:t>Refit the model </a:t>
            </a:r>
            <a:r>
              <a:rPr lang="en-US" i="1" dirty="0"/>
              <a:t>without</a:t>
            </a:r>
            <a:r>
              <a:rPr lang="en-US" dirty="0"/>
              <a:t> random time slopes to test whether our results depended on allowing participant-specific time trajectories</a:t>
            </a:r>
          </a:p>
          <a:p>
            <a:pPr lvl="2"/>
            <a:r>
              <a:rPr lang="en-US" dirty="0"/>
              <a:t>R² drops from 58.55% → 49.99%</a:t>
            </a:r>
          </a:p>
          <a:p>
            <a:pPr lvl="2"/>
            <a:r>
              <a:rPr lang="en-US" dirty="0"/>
              <a:t>Allowing each subject their own time slope significantly improves predictions</a:t>
            </a:r>
          </a:p>
          <a:p>
            <a:pPr lvl="2"/>
            <a:r>
              <a:rPr lang="en-US" dirty="0"/>
              <a:t>Individual differences are not just baseline shifts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people react to meals differently over time</a:t>
            </a:r>
          </a:p>
          <a:p>
            <a:pPr lvl="2"/>
            <a:r>
              <a:rPr lang="en-US" dirty="0"/>
              <a:t>Subject-specific metabolism is a crucial part of accurate prediction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45599-F597-FFFA-9767-DC13BB20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5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05EF-FA16-BC57-0FC9-AE3C06B8B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08E9F0-CD44-6791-D1A5-192E7B19125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42665679"/>
              </p:ext>
            </p:extLst>
          </p:nvPr>
        </p:nvGraphicFramePr>
        <p:xfrm>
          <a:off x="769545" y="2018670"/>
          <a:ext cx="2801294" cy="2820660"/>
        </p:xfrm>
        <a:graphic>
          <a:graphicData uri="http://schemas.openxmlformats.org/drawingml/2006/table">
            <a:tbl>
              <a:tblPr/>
              <a:tblGrid>
                <a:gridCol w="1400647">
                  <a:extLst>
                    <a:ext uri="{9D8B030D-6E8A-4147-A177-3AD203B41FA5}">
                      <a16:colId xmlns:a16="http://schemas.microsoft.com/office/drawing/2014/main" val="3708214230"/>
                    </a:ext>
                  </a:extLst>
                </a:gridCol>
                <a:gridCol w="1400647">
                  <a:extLst>
                    <a:ext uri="{9D8B030D-6E8A-4147-A177-3AD203B41FA5}">
                      <a16:colId xmlns:a16="http://schemas.microsoft.com/office/drawing/2014/main" val="3344247758"/>
                    </a:ext>
                  </a:extLst>
                </a:gridCol>
              </a:tblGrid>
              <a:tr h="707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 Metabolites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R²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65104"/>
                  </a:ext>
                </a:extLst>
              </a:tr>
              <a:tr h="42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55.75%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237505"/>
                  </a:ext>
                </a:extLst>
              </a:tr>
              <a:tr h="42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50.99%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309249"/>
                  </a:ext>
                </a:extLst>
              </a:tr>
              <a:tr h="42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48.47%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959052"/>
                  </a:ext>
                </a:extLst>
              </a:tr>
              <a:tr h="42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50.76%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790735"/>
                  </a:ext>
                </a:extLst>
              </a:tr>
              <a:tr h="42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 (best)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58.55%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4689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6A79D5-0BF9-E4C3-B5C0-AD57179367B2}"/>
              </a:ext>
            </a:extLst>
          </p:cNvPr>
          <p:cNvSpPr txBox="1"/>
          <p:nvPr/>
        </p:nvSpPr>
        <p:spPr>
          <a:xfrm>
            <a:off x="769545" y="1389708"/>
            <a:ext cx="6102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Results (Out-of-Fold R²):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E88DB-581E-6FE5-0367-4F76B87BD0D0}"/>
              </a:ext>
            </a:extLst>
          </p:cNvPr>
          <p:cNvSpPr txBox="1"/>
          <p:nvPr/>
        </p:nvSpPr>
        <p:spPr>
          <a:xfrm>
            <a:off x="6096000" y="2018670"/>
            <a:ext cx="47349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Gluconate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15/15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Fructose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15/15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Glutamate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15/15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Insulin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15/15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Phosphoethanolamine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14/15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Pyruvate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12/15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Glycerate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11/15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Palmitoylcholine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9/15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Orotate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9/15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Phosphate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9/15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6113FC-7797-6C19-1538-3631A6172B41}"/>
                  </a:ext>
                </a:extLst>
              </p:cNvPr>
              <p:cNvSpPr txBox="1"/>
              <p:nvPr/>
            </p:nvSpPr>
            <p:spPr>
              <a:xfrm>
                <a:off x="5981324" y="1425651"/>
                <a:ext cx="6102034" cy="463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Metabolites extracted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subjects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6113FC-7797-6C19-1538-3631A6172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24" y="1425651"/>
                <a:ext cx="6102034" cy="463204"/>
              </a:xfrm>
              <a:prstGeom prst="rect">
                <a:avLst/>
              </a:prstGeom>
              <a:blipFill>
                <a:blip r:embed="rId2"/>
                <a:stretch>
                  <a:fillRect l="-799" t="-1316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CDB6C7-1FAE-969C-A8EF-4B1D398A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5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E4AC11-200C-0EAC-E97A-7A86A60EEF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359" y="1338145"/>
            <a:ext cx="4838817" cy="4838817"/>
          </a:xfrm>
          <a:noFill/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915A303-BE4B-B859-60DD-945E03580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35176" y="1338146"/>
            <a:ext cx="6218624" cy="4838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X-axis &amp; Bubble Size</a:t>
            </a:r>
          </a:p>
          <a:p>
            <a:pPr lvl="1"/>
            <a:r>
              <a:rPr lang="en-US" dirty="0"/>
              <a:t>Pathway Impact</a:t>
            </a:r>
          </a:p>
          <a:p>
            <a:pPr lvl="1"/>
            <a:r>
              <a:rPr lang="en-US" dirty="0"/>
              <a:t>Shows how much the pathway is affected </a:t>
            </a:r>
          </a:p>
          <a:p>
            <a:pPr lvl="2"/>
            <a:r>
              <a:rPr lang="en-US" dirty="0"/>
              <a:t>Further right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that pathway plays a larger role in the body’s response</a:t>
            </a:r>
          </a:p>
          <a:p>
            <a:r>
              <a:rPr lang="en-US" dirty="0"/>
              <a:t>Y-axis &amp; Color</a:t>
            </a:r>
          </a:p>
          <a:p>
            <a:pPr lvl="1"/>
            <a:r>
              <a:rPr lang="en-US" dirty="0"/>
              <a:t> −log10 p-value</a:t>
            </a:r>
          </a:p>
          <a:p>
            <a:pPr lvl="1"/>
            <a:r>
              <a:rPr lang="en-US" dirty="0"/>
              <a:t>Shows statistical significance</a:t>
            </a:r>
          </a:p>
          <a:p>
            <a:pPr lvl="2"/>
            <a:r>
              <a:rPr lang="en-US" dirty="0"/>
              <a:t>How strong the evidence is that the pathway is important</a:t>
            </a:r>
          </a:p>
          <a:p>
            <a:r>
              <a:rPr lang="en-US" dirty="0"/>
              <a:t>Bubble Size</a:t>
            </a:r>
          </a:p>
          <a:p>
            <a:pPr lvl="1"/>
            <a:r>
              <a:rPr lang="en-US" dirty="0"/>
              <a:t>How many metabolites belong to that pathway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9F749-0E7A-4A5B-6DAE-A9CB93B87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242" y="136526"/>
            <a:ext cx="7536805" cy="644872"/>
          </a:xfrm>
        </p:spPr>
        <p:txBody>
          <a:bodyPr anchor="ctr">
            <a:normAutofit/>
          </a:bodyPr>
          <a:lstStyle/>
          <a:p>
            <a:r>
              <a:rPr lang="en-US" dirty="0"/>
              <a:t>Metabolic Pathways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C57E59-8FCD-9F7F-92B9-181A6F52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64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643802-1A33-4EF9-D847-D3E486E23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4320" y="1338146"/>
            <a:ext cx="6181344" cy="4838817"/>
          </a:xfrm>
        </p:spPr>
        <p:txBody>
          <a:bodyPr/>
          <a:lstStyle/>
          <a:p>
            <a:r>
              <a:rPr lang="en-US" dirty="0"/>
              <a:t>Pathways in the upper right are the ones most effected by the metabolites contributing to glucose prediction.</a:t>
            </a:r>
          </a:p>
          <a:p>
            <a:pPr lvl="1"/>
            <a:r>
              <a:rPr lang="en-US" dirty="0"/>
              <a:t>Pathways most tied to postprandial glycemic regulation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0D3403-7ED1-1297-5614-166112B49B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3650" y="1338263"/>
            <a:ext cx="4838700" cy="48387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E6F6BEE-86A7-AA0A-920B-1C64B0A5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353FC-3CDF-26D1-4BA0-6C9C986695A0}"/>
              </a:ext>
            </a:extLst>
          </p:cNvPr>
          <p:cNvSpPr txBox="1"/>
          <p:nvPr/>
        </p:nvSpPr>
        <p:spPr>
          <a:xfrm>
            <a:off x="10780776" y="1554481"/>
            <a:ext cx="1325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Glycine, serine and threonine metabolism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CB4987-F189-E836-4628-C20F81763B0C}"/>
              </a:ext>
            </a:extLst>
          </p:cNvPr>
          <p:cNvSpPr txBox="1"/>
          <p:nvPr/>
        </p:nvSpPr>
        <p:spPr>
          <a:xfrm>
            <a:off x="10165842" y="3727222"/>
            <a:ext cx="1940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Alanine, aspartate and glutamate metabolism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047F71-F2B9-E6C5-CC02-845D9047CF40}"/>
              </a:ext>
            </a:extLst>
          </p:cNvPr>
          <p:cNvSpPr txBox="1"/>
          <p:nvPr/>
        </p:nvSpPr>
        <p:spPr>
          <a:xfrm>
            <a:off x="6588633" y="1415981"/>
            <a:ext cx="1876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Glyoxylate and dicarboxylate metabolism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E81884-348E-2A23-7B01-B4254105CDE7}"/>
              </a:ext>
            </a:extLst>
          </p:cNvPr>
          <p:cNvSpPr txBox="1"/>
          <p:nvPr/>
        </p:nvSpPr>
        <p:spPr>
          <a:xfrm>
            <a:off x="8598408" y="1807888"/>
            <a:ext cx="1730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Arginine and proline metabolism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C49A97-AD93-02A0-5CD1-94195FC16B85}"/>
              </a:ext>
            </a:extLst>
          </p:cNvPr>
          <p:cNvSpPr txBox="1"/>
          <p:nvPr/>
        </p:nvSpPr>
        <p:spPr>
          <a:xfrm>
            <a:off x="9151272" y="2675222"/>
            <a:ext cx="1346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Cysteine and methionine metabolism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174FBE-6996-9C96-1989-AEE33300DD65}"/>
              </a:ext>
            </a:extLst>
          </p:cNvPr>
          <p:cNvSpPr txBox="1"/>
          <p:nvPr/>
        </p:nvSpPr>
        <p:spPr>
          <a:xfrm>
            <a:off x="7505667" y="2284725"/>
            <a:ext cx="959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One carbon pool by folate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81C60-6D41-A331-10DC-DCC42E5C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88EB-F0FC-41BB-9F24-59FF50B356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44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F25CA07ABE8746922A96DE612B94ED" ma:contentTypeVersion="19" ma:contentTypeDescription="Create a new document." ma:contentTypeScope="" ma:versionID="a26db1aac3bbe8b453062bb2cb92729f">
  <xsd:schema xmlns:xsd="http://www.w3.org/2001/XMLSchema" xmlns:xs="http://www.w3.org/2001/XMLSchema" xmlns:p="http://schemas.microsoft.com/office/2006/metadata/properties" xmlns:ns2="56da9768-d3a1-4445-bbbe-4f4dcd00b479" xmlns:ns3="7d11626b-f2c7-480d-9707-dfbb9866a658" targetNamespace="http://schemas.microsoft.com/office/2006/metadata/properties" ma:root="true" ma:fieldsID="140cfb9e78f41223663656ffb8c6819f" ns2:_="" ns3:_="">
    <xsd:import namespace="56da9768-d3a1-4445-bbbe-4f4dcd00b479"/>
    <xsd:import namespace="7d11626b-f2c7-480d-9707-dfbb9866a6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DataDescrip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da9768-d3a1-4445-bbbe-4f4dcd00b4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c7eb-5c45-4d0a-8479-4b30401fca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DataDescription" ma:index="24" nillable="true" ma:displayName="Data Description" ma:description="Brief description of the dataset" ma:format="Dropdown" ma:internalName="DataDescription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1626b-f2c7-480d-9707-dfbb9866a65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aa8f4ad-4a2d-4a84-80b7-aae1ccf2ca83}" ma:internalName="TaxCatchAll" ma:showField="CatchAllData" ma:web="7d11626b-f2c7-480d-9707-dfbb9866a6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da9768-d3a1-4445-bbbe-4f4dcd00b479">
      <Terms xmlns="http://schemas.microsoft.com/office/infopath/2007/PartnerControls"/>
    </lcf76f155ced4ddcb4097134ff3c332f>
    <TaxCatchAll xmlns="7d11626b-f2c7-480d-9707-dfbb9866a658" xsi:nil="true"/>
    <DataDescription xmlns="56da9768-d3a1-4445-bbbe-4f4dcd00b479" xsi:nil="true"/>
  </documentManagement>
</p:properties>
</file>

<file path=customXml/itemProps1.xml><?xml version="1.0" encoding="utf-8"?>
<ds:datastoreItem xmlns:ds="http://schemas.openxmlformats.org/officeDocument/2006/customXml" ds:itemID="{47944DD8-0131-4983-B3DE-8A1DD87F31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da9768-d3a1-4445-bbbe-4f4dcd00b479"/>
    <ds:schemaRef ds:uri="7d11626b-f2c7-480d-9707-dfbb9866a6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94BECD-B240-4B2E-8FB8-8AA33A5F3C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10DFD2-D656-4CFE-B1D2-3C4A6816B3DC}">
  <ds:schemaRefs>
    <ds:schemaRef ds:uri="http://purl.org/dc/terms/"/>
    <ds:schemaRef ds:uri="4b0f2749-be2f-491e-8e5a-617d6ac8c552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b6c243bf-a1a9-4ba6-8da4-da0b029aa8eb"/>
    <ds:schemaRef ds:uri="http://www.w3.org/XML/1998/namespace"/>
    <ds:schemaRef ds:uri="56da9768-d3a1-4445-bbbe-4f4dcd00b479"/>
    <ds:schemaRef ds:uri="7d11626b-f2c7-480d-9707-dfbb9866a6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736</Words>
  <Application>Microsoft Office PowerPoint</Application>
  <PresentationFormat>Widescreen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</vt:lpstr>
      <vt:lpstr>Office Theme</vt:lpstr>
      <vt:lpstr>Postprandial Metabolomics</vt:lpstr>
      <vt:lpstr>Background</vt:lpstr>
      <vt:lpstr>Purpose and Motivation</vt:lpstr>
      <vt:lpstr>Data Overview</vt:lpstr>
      <vt:lpstr>Clustering</vt:lpstr>
      <vt:lpstr>Glucose Analysis</vt:lpstr>
      <vt:lpstr>LME + FDR Model</vt:lpstr>
      <vt:lpstr>LME + FDR Model</vt:lpstr>
      <vt:lpstr>Findings</vt:lpstr>
      <vt:lpstr>Metabolic Pathways</vt:lpstr>
      <vt:lpstr>Pathway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Reisweber, Nicholas A MAJ</dc:creator>
  <cp:lastModifiedBy>McCauley, Ireland C CDT 2026</cp:lastModifiedBy>
  <cp:revision>23</cp:revision>
  <dcterms:created xsi:type="dcterms:W3CDTF">2023-04-19T19:56:24Z</dcterms:created>
  <dcterms:modified xsi:type="dcterms:W3CDTF">2025-12-02T01:53:56Z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0x010100EEF25CA07ABE8746922A96DE612B94ED</vt:lpwstr>
  </property>
  <property fmtid="{D5CDD505-2E9C-101B-9397-08002B2CF9AE}" pid="3" name="MediaServiceImageTags">
    <vt:lpwstr/>
  </property>
</Properties>
</file>